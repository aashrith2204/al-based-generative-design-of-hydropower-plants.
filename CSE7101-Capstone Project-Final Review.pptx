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77" r:id="rId4"/>
    <p:sldId id="278" r:id="rId5"/>
    <p:sldId id="269" r:id="rId6"/>
    <p:sldId id="280" r:id="rId7"/>
    <p:sldId id="281" r:id="rId8"/>
    <p:sldId id="282" r:id="rId9"/>
    <p:sldId id="283" r:id="rId10"/>
    <p:sldId id="284" r:id="rId11"/>
    <p:sldId id="268" r:id="rId12"/>
    <p:sldId id="270" r:id="rId13"/>
    <p:sldId id="266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theme" Target="theme/theme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viewProps" Target="viewProps.xml" /><Relationship Id="rId2" Type="http://schemas.openxmlformats.org/officeDocument/2006/relationships/slide" Target="slides/slide1.xml" /><Relationship Id="rId1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notesMaster" Target="notesMasters/notesMaster1.xml" /><Relationship Id="rId10" Type="http://schemas.openxmlformats.org/officeDocument/2006/relationships/slide" Target="slides/slide9.xml" /><Relationship Id="rId19" Type="http://schemas.openxmlformats.org/officeDocument/2006/relationships/tableStyles" Target="tableStyle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16962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32441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836014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156177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2911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105060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257794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295904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721746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96689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7165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55935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435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image" Target="../media/image1.png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3">
            <a:alphaModFix/>
          </a:blip>
          <a:srcRect b="18046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Al-based Generative design of Hydropower plants.</a:t>
            </a:r>
            <a:endParaRPr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90468" y="2045352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Batch Number: CCS_34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480195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Sridevi S</a:t>
            </a: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of Computer Science and 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graphicFrame>
        <p:nvGraphicFramePr>
          <p:cNvPr id="89" name="Google Shape;89;p13"/>
          <p:cNvGraphicFramePr/>
          <p:nvPr>
            <p:extLst>
              <p:ext uri="{D42A27DB-BD31-4B8C-83A1-F6EECF244321}">
                <p14:modId xmlns:p14="http://schemas.microsoft.com/office/powerpoint/2010/main" val="3878391451"/>
              </p:ext>
            </p:extLst>
          </p:nvPr>
        </p:nvGraphicFramePr>
        <p:xfrm>
          <a:off x="553346" y="2721840"/>
          <a:ext cx="5756013" cy="146308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19718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841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2010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Roll Number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Student Name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201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800" u="none" strike="noStrike" cap="none" dirty="0"/>
                        <a:t>20221CCS0067</a:t>
                      </a: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 err="1"/>
                        <a:t>Aashrith.K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201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20221CCS0105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P Harsha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201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20221CCS0106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Narayana A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2832225" y="13644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CSE7101-</a:t>
            </a: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Capstone Project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Review-4</a:t>
            </a:r>
            <a:endParaRPr sz="18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0" y="4533900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B.Tech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Computer Science and Engineering ( Cyber Security)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US" sz="1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Dr. Anandaraj S.P</a:t>
            </a:r>
            <a:br>
              <a:rPr lang="en-US" sz="1800" dirty="0"/>
            </a:b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Project Coordinator: </a:t>
            </a:r>
            <a:r>
              <a:rPr lang="en-US" sz="1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Dr. </a:t>
            </a:r>
            <a:r>
              <a:rPr lang="en-US" sz="1800" b="1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Sharmasth</a:t>
            </a:r>
            <a:r>
              <a:rPr lang="en-US" sz="1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Vali </a:t>
            </a:r>
            <a:br>
              <a:rPr lang="en-US" sz="1800" dirty="0"/>
            </a:b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Project Coordinators: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Sampath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A K , Dr.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Geetha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A </a:t>
            </a:r>
            <a:endParaRPr sz="18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782" y="1466273"/>
            <a:ext cx="10668000" cy="3924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System Model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Result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References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 algn="just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Introduction</a:t>
            </a: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782" y="1466273"/>
            <a:ext cx="10668000" cy="3924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62500" lnSpcReduction="20000"/>
          </a:bodyPr>
          <a:lstStyle/>
          <a:p>
            <a:pPr marL="7620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Hydropower remains one of the most reliable and sustainable sources of renewable energy. However, the traditional design process for hydropower components—such as turbines, generators, intake structures, and dam layouts—is often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complex, time-consuming, and highly dependent on manual modeling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76200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introduces an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AI-driven generative design system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automates the creation of hydropower plant components using:</a:t>
            </a:r>
          </a:p>
          <a:p>
            <a:pPr marL="7620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Python-based parametric modeling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Blender for 3D geometry generation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OpenAI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Whisper for voice-based interaction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custom graphical user interface (GUI) for parameter entry</a:t>
            </a:r>
          </a:p>
          <a:p>
            <a:pPr marL="7620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allows engineers to provide input parameters (dimensions, site conditions, design constraints) through text or voice, and automatically generates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accurate, customizable 3D models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within seconds.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significantly reduces design time, minimizes human error, and enhances engineering productivity.</a:t>
            </a:r>
          </a:p>
          <a:p>
            <a:pPr marL="7620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ultimately aims to function as an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design assistant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supporting rapid prototyping, visualization, and optimization of hydropower infrastructure.</a:t>
            </a:r>
          </a:p>
        </p:txBody>
      </p:sp>
    </p:spTree>
    <p:extLst>
      <p:ext uri="{BB962C8B-B14F-4D97-AF65-F5344CB8AC3E}">
        <p14:creationId xmlns:p14="http://schemas.microsoft.com/office/powerpoint/2010/main" val="33531501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 algn="just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Literature Survey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D14B1CF1-DAC6-40C9-AD33-08035BCC8849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363" y="1002243"/>
            <a:ext cx="11301273" cy="53275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943014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Problem Statement Number: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PSCS_11 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3400" u="sng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Category : Software Based Project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3400" b="1" u="sng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Problem Description:</a:t>
            </a:r>
          </a:p>
          <a:p>
            <a:pPr algn="just"/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focuses on </a:t>
            </a:r>
            <a:r>
              <a:rPr lang="en-US" sz="2100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AI-based Generative Design of Hydropower Plants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integrating </a:t>
            </a:r>
            <a:r>
              <a:rPr lang="en-US" sz="2100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civil structures, hydro-mechanical, and electro-mechanical equipment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into an automated design workflow. The core idea is to leverage </a:t>
            </a:r>
            <a:r>
              <a:rPr lang="en-US" sz="2100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Blender software 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combination with </a:t>
            </a:r>
            <a:r>
              <a:rPr lang="en-US" sz="2100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programming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create intelligent, parameter-driven 3D models of hydropower plant components.</a:t>
            </a:r>
          </a:p>
          <a:p>
            <a:pPr algn="just"/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will be able to provide inputs either through </a:t>
            </a:r>
            <a:r>
              <a:rPr lang="en-US" sz="2100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keyboard entry</a:t>
            </a:r>
            <a:r>
              <a:rPr lang="en-US" sz="21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via a </a:t>
            </a:r>
            <a:r>
              <a:rPr lang="en-US" sz="2100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voice assistant interface 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powered by </a:t>
            </a:r>
            <a:r>
              <a:rPr lang="en-US" sz="2100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OpenAI Whisper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These inputs, which may include specifications such as dimensions, capacity requirements, or site-specific constraints, will be processed to dynamically generate or adapt pre-loaded templates within Blender. The result is a </a:t>
            </a:r>
            <a:r>
              <a:rPr lang="en-US" sz="2100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customized 3D model 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meets the client’s requirements with high accuracy and efficiency.</a:t>
            </a:r>
          </a:p>
          <a:p>
            <a:pPr algn="just"/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automating the generative design process, this project eliminates repetitive manual modeling, accelerates the design cycle, and reduces the possibility of human error. It also provides scope for </a:t>
            </a:r>
            <a:r>
              <a:rPr lang="en-US" sz="2100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AI-driven optimization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where design variations can be evaluated for performance, sustainability, and cost-effectiveness. Ultimately, this system will serve as a </a:t>
            </a:r>
            <a:r>
              <a:rPr lang="en-US" sz="2100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design assistant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engineers and planners, enabling rapid prototyping and visualization of hydropower infrastructure.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34518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 algn="just"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System Model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2EC4CE-F257-4597-9266-D818D639E011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959" y="1322774"/>
            <a:ext cx="5731510" cy="401638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0C9748F-59AB-4B87-8809-93F505781943}"/>
              </a:ext>
            </a:extLst>
          </p:cNvPr>
          <p:cNvSpPr txBox="1"/>
          <p:nvPr/>
        </p:nvSpPr>
        <p:spPr>
          <a:xfrm>
            <a:off x="6533965" y="1322773"/>
            <a:ext cx="5575177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Description : </a:t>
            </a:r>
            <a:endParaRPr lang="en-IN" dirty="0"/>
          </a:p>
          <a:p>
            <a:pPr algn="just"/>
            <a:br>
              <a:rPr lang="en-US" dirty="0"/>
            </a:br>
            <a:r>
              <a:rPr lang="en-US" dirty="0"/>
              <a:t>The process begins when the user inputs design parameters through the UI. These parameters are passed to the Core Processing Layer, which validates the input and prepares a JSON configuration file. The configuration is fed into the Blender Integration Engine, where parametric modeling scripts construct the 3D geometry.</a:t>
            </a:r>
          </a:p>
          <a:p>
            <a:endParaRPr lang="en-IN" dirty="0"/>
          </a:p>
          <a:p>
            <a:r>
              <a:rPr lang="en-US" b="1" dirty="0"/>
              <a:t>Blocks Description:</a:t>
            </a:r>
            <a:endParaRPr lang="en-IN" dirty="0"/>
          </a:p>
          <a:p>
            <a:pPr lvl="0" algn="just"/>
            <a:r>
              <a:rPr lang="en-US" b="1" dirty="0"/>
              <a:t>Input Layer:</a:t>
            </a:r>
            <a:r>
              <a:rPr lang="en-US" dirty="0"/>
              <a:t> Receives component selection and parameter values.</a:t>
            </a:r>
            <a:endParaRPr lang="en-IN" dirty="0"/>
          </a:p>
          <a:p>
            <a:pPr lvl="0" algn="just"/>
            <a:r>
              <a:rPr lang="en-US" b="1" dirty="0"/>
              <a:t>Processing Engine:</a:t>
            </a:r>
            <a:r>
              <a:rPr lang="en-US" dirty="0"/>
              <a:t> Validates and converts data into model configurations.</a:t>
            </a:r>
            <a:endParaRPr lang="en-IN" dirty="0"/>
          </a:p>
          <a:p>
            <a:pPr lvl="0" algn="just"/>
            <a:r>
              <a:rPr lang="en-US" b="1" dirty="0"/>
              <a:t>Blender Generator:</a:t>
            </a:r>
            <a:r>
              <a:rPr lang="en-US" dirty="0"/>
              <a:t> Uses Python (</a:t>
            </a:r>
            <a:r>
              <a:rPr lang="en-US" dirty="0" err="1"/>
              <a:t>bpy</a:t>
            </a:r>
            <a:r>
              <a:rPr lang="en-US" dirty="0"/>
              <a:t>) to generate the actual 3D models.</a:t>
            </a:r>
            <a:endParaRPr lang="en-IN" dirty="0"/>
          </a:p>
          <a:p>
            <a:pPr lvl="0" algn="just"/>
            <a:r>
              <a:rPr lang="en-US" b="1" dirty="0"/>
              <a:t>Output Layer:</a:t>
            </a:r>
            <a:r>
              <a:rPr lang="en-US" dirty="0"/>
              <a:t> Exports .blend files and previews.</a:t>
            </a:r>
          </a:p>
          <a:p>
            <a:pPr lvl="0"/>
            <a:endParaRPr lang="en-IN" dirty="0"/>
          </a:p>
          <a:p>
            <a:pPr algn="just"/>
            <a:r>
              <a:rPr lang="en-US" dirty="0"/>
              <a:t>This modular approach ensures reusability and easy integration of new hydropower components.</a:t>
            </a:r>
            <a:endParaRPr lang="en-IN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9962E6-6554-41CB-893E-A52762B22D6B}"/>
              </a:ext>
            </a:extLst>
          </p:cNvPr>
          <p:cNvSpPr txBox="1"/>
          <p:nvPr/>
        </p:nvSpPr>
        <p:spPr>
          <a:xfrm>
            <a:off x="239698" y="5424256"/>
            <a:ext cx="65073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Fig. 5.1 represents the high-level architecture of the hydropower design system.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538285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 algn="just"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Result</a:t>
            </a:r>
          </a:p>
        </p:txBody>
      </p:sp>
    </p:spTree>
    <p:extLst>
      <p:ext uri="{BB962C8B-B14F-4D97-AF65-F5344CB8AC3E}">
        <p14:creationId xmlns:p14="http://schemas.microsoft.com/office/powerpoint/2010/main" val="22345486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 algn="just"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Result</a:t>
            </a:r>
          </a:p>
        </p:txBody>
      </p:sp>
    </p:spTree>
    <p:extLst>
      <p:ext uri="{BB962C8B-B14F-4D97-AF65-F5344CB8AC3E}">
        <p14:creationId xmlns:p14="http://schemas.microsoft.com/office/powerpoint/2010/main" val="16915540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 algn="just"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782" y="1466273"/>
            <a:ext cx="10668000" cy="3924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The system successfully automates hydropower component design using a powerful blend of </a:t>
            </a:r>
            <a:r>
              <a:rPr lang="en-US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parametric modeling</a:t>
            </a:r>
            <a:r>
              <a:rPr lang="en-US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AI-driven validation</a:t>
            </a:r>
            <a:r>
              <a:rPr lang="en-US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, and </a:t>
            </a:r>
            <a:r>
              <a:rPr lang="en-US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Blender automation</a:t>
            </a:r>
            <a:r>
              <a:rPr lang="en-US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.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It significantly reduces design time while improving </a:t>
            </a:r>
            <a:r>
              <a:rPr lang="en-US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accuracy</a:t>
            </a:r>
            <a:r>
              <a:rPr lang="en-US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consistency</a:t>
            </a:r>
            <a:r>
              <a:rPr lang="en-US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, and </a:t>
            </a:r>
            <a:r>
              <a:rPr lang="en-US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user </a:t>
            </a:r>
            <a:r>
              <a:rPr lang="en-US" b="1" dirty="0" err="1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accessibility</a:t>
            </a:r>
            <a:r>
              <a:rPr lang="en-US" dirty="0" err="1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.The</a:t>
            </a:r>
            <a:r>
              <a:rPr lang="en-US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modular architecture makes the tool scalable for future enhancements, including CFD/FEA integration and cloud-based collaboration.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Overall, the project demonstrates how intelligent design automation can </a:t>
            </a:r>
            <a:r>
              <a:rPr lang="en-US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accelerate engineering workflows</a:t>
            </a:r>
            <a:r>
              <a:rPr lang="en-US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and support sustainable hydropower development.</a:t>
            </a:r>
          </a:p>
        </p:txBody>
      </p:sp>
    </p:spTree>
    <p:extLst>
      <p:ext uri="{BB962C8B-B14F-4D97-AF65-F5344CB8AC3E}">
        <p14:creationId xmlns:p14="http://schemas.microsoft.com/office/powerpoint/2010/main" val="40802208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 algn="just"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20271" y="995756"/>
            <a:ext cx="10668000" cy="5360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76200" indent="0" algn="just">
              <a:buNone/>
            </a:pPr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Zhang, W., Li, H. and Chen, X., 2021. Parametric Design and Optimization of Francis Turbines Using CFD Integration. Journal of Hydraulic Engineering, 147(3), pp.234-245.</a:t>
            </a:r>
          </a:p>
          <a:p>
            <a:pPr marL="76200" indent="0" algn="just">
              <a:buNone/>
            </a:pPr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76200" indent="0" algn="just">
              <a:buNone/>
            </a:pPr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Kumar, A. and Patel, S., 2020. BIM Implementation in Hydropower Infrastructure Design. Automation in Construction, 118, pp.103-115.</a:t>
            </a:r>
          </a:p>
          <a:p>
            <a:pPr marL="76200" indent="0" algn="just">
              <a:buNone/>
            </a:pPr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76200" indent="0" algn="just">
              <a:buNone/>
            </a:pPr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Chen, L., Wang, Y. and Johnson, M., 2022. Virtual Reality-Based Design Review for Hydropower Plants. Advanced Engineering Informatics, 52, pp.101-112.</a:t>
            </a:r>
          </a:p>
          <a:p>
            <a:pPr marL="76200" indent="0" algn="just">
              <a:buNone/>
            </a:pPr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76200" indent="0" algn="just">
              <a:buNone/>
            </a:pPr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Anderson, P. and Brown, K., 2019. Machine Learning Applications in Hydropower Component Optimization. Renewable Energy, 143, pp.345-356.</a:t>
            </a:r>
          </a:p>
          <a:p>
            <a:pPr marL="76200" indent="0" algn="just">
              <a:buNone/>
            </a:pPr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76200" indent="0" algn="just">
              <a:buNone/>
            </a:pPr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Rodriguez, M., Silva, P. and Gonzalez, R., 2021. Open-Source Framework for Small-Scale Hydropower Design in Developing Regions. Energy for Sustainable Development, 62, pp.78-89.</a:t>
            </a:r>
          </a:p>
          <a:p>
            <a:pPr marL="76200" indent="0" algn="just">
              <a:buNone/>
            </a:pPr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76200" indent="0" algn="just">
              <a:buNone/>
            </a:pPr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Wilson, R., Thompson, K. and Lee, S., 2020. Integrating Environmental Assessment into Hydropower Design Processes. Journal of Environmental Management, 275, pp.111-123.</a:t>
            </a:r>
          </a:p>
          <a:p>
            <a:pPr marL="76200" indent="0" algn="just">
              <a:buNone/>
            </a:pPr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76200" indent="0" algn="just">
              <a:buNone/>
            </a:pPr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 Tanaka, H. and Yamaguchi, S., 2022. Cloud-Based Collaborative Platform for Distributed Hydropower Design. Computer-Aided Design, 145, pp.134-145.</a:t>
            </a:r>
          </a:p>
          <a:p>
            <a:pPr marL="76200" indent="0" algn="just">
              <a:buNone/>
            </a:pPr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76200" indent="0" algn="just">
              <a:buNone/>
            </a:pPr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[8] Li, X., Wang, Z. and Zhang, Y., 2021. Multi-Objective Optimization Framework for Hydropower Turbine Selection. Applied Energy, 298, pp.234-246.</a:t>
            </a:r>
          </a:p>
          <a:p>
            <a:pPr marL="76200" indent="0" algn="just">
              <a:buNone/>
            </a:pPr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76200" indent="0" algn="just">
              <a:buNone/>
            </a:pPr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[9] Garcia, S. and Martinez, R., 2019. Additive Manufacturing Applications in Hydropower Component Design. Additive Manufacturing, 28, pp.67-78.</a:t>
            </a:r>
          </a:p>
          <a:p>
            <a:pPr marL="76200" indent="0" algn="just">
              <a:buNone/>
            </a:pPr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76200" indent="0" algn="just">
              <a:buNone/>
            </a:pPr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[10] Park, J., Kim, S. and Lee, H., 2022. Digital Twin Framework for Operational Hydropower Plants. IEEE Transactions on Sustainable Energy, 13(2), pp.456-467.</a:t>
            </a:r>
            <a:endParaRPr sz="1100" b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33509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>
            <a:spLocks/>
          </p:cNvSpPr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>
            <a:spLocks/>
          </p:cNvSpPr>
          <p:nvPr/>
        </p:nvSpPr>
        <p:spPr>
          <a:xfrm>
            <a:off x="82296" y="1143000"/>
            <a:ext cx="11996928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 Github link provided should have public access permission.</a:t>
            </a: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b="1" dirty="0" err="1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Github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Link : 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endParaRPr lang="en-US" b="1" dirty="0">
              <a:solidFill>
                <a:schemeClr val="accent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2200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https://github.com/aashrith2204/Al-based-Generative-design-of-Hydropower-</a:t>
            </a:r>
            <a:r>
              <a:rPr lang="en-US" sz="2200" b="1" dirty="0" err="1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plants..git</a:t>
            </a:r>
            <a:endParaRPr lang="en-US" sz="2200" b="1" dirty="0">
              <a:solidFill>
                <a:schemeClr val="accent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3573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 (Gantt Chart)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072C406-D7C6-428B-CBB1-61B596A9DC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5468236"/>
              </p:ext>
            </p:extLst>
          </p:nvPr>
        </p:nvGraphicFramePr>
        <p:xfrm>
          <a:off x="886968" y="1102530"/>
          <a:ext cx="10762488" cy="4956239"/>
        </p:xfrm>
        <a:graphic>
          <a:graphicData uri="http://schemas.openxmlformats.org/drawingml/2006/table">
            <a:tbl>
              <a:tblPr/>
              <a:tblGrid>
                <a:gridCol w="1746504">
                  <a:extLst>
                    <a:ext uri="{9D8B030D-6E8A-4147-A177-3AD203B41FA5}">
                      <a16:colId xmlns:a16="http://schemas.microsoft.com/office/drawing/2014/main" val="2313757185"/>
                    </a:ext>
                  </a:extLst>
                </a:gridCol>
                <a:gridCol w="1024128">
                  <a:extLst>
                    <a:ext uri="{9D8B030D-6E8A-4147-A177-3AD203B41FA5}">
                      <a16:colId xmlns:a16="http://schemas.microsoft.com/office/drawing/2014/main" val="1814743925"/>
                    </a:ext>
                  </a:extLst>
                </a:gridCol>
                <a:gridCol w="950976">
                  <a:extLst>
                    <a:ext uri="{9D8B030D-6E8A-4147-A177-3AD203B41FA5}">
                      <a16:colId xmlns:a16="http://schemas.microsoft.com/office/drawing/2014/main" val="2278959601"/>
                    </a:ext>
                  </a:extLst>
                </a:gridCol>
                <a:gridCol w="7040880">
                  <a:extLst>
                    <a:ext uri="{9D8B030D-6E8A-4147-A177-3AD203B41FA5}">
                      <a16:colId xmlns:a16="http://schemas.microsoft.com/office/drawing/2014/main" val="541223693"/>
                    </a:ext>
                  </a:extLst>
                </a:gridCol>
              </a:tblGrid>
              <a:tr h="2566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Activity</a:t>
                      </a:r>
                      <a:endParaRPr lang="en-US" sz="1200"/>
                    </a:p>
                  </a:txBody>
                  <a:tcPr marL="76990" marR="76990" marT="38495" marB="384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Start Date</a:t>
                      </a:r>
                      <a:endParaRPr lang="en-US" sz="1200"/>
                    </a:p>
                  </a:txBody>
                  <a:tcPr marL="76990" marR="76990" marT="38495" marB="384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End Date</a:t>
                      </a:r>
                      <a:endParaRPr lang="en-US" sz="1200"/>
                    </a:p>
                  </a:txBody>
                  <a:tcPr marL="76990" marR="76990" marT="38495" marB="384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Deliverable / Focus</a:t>
                      </a:r>
                      <a:endParaRPr lang="en-US" sz="1200" dirty="0"/>
                    </a:p>
                  </a:txBody>
                  <a:tcPr marL="76990" marR="76990" marT="38495" marB="384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1257533"/>
                  </a:ext>
                </a:extLst>
              </a:tr>
              <a:tr h="7955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Review-1 (CA-01)</a:t>
                      </a:r>
                      <a:endParaRPr lang="en-US" sz="1200"/>
                    </a:p>
                  </a:txBody>
                  <a:tcPr marL="76990" marR="76990" marT="38495" marB="384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13-08-2025</a:t>
                      </a:r>
                    </a:p>
                  </a:txBody>
                  <a:tcPr marL="76990" marR="76990" marT="38495" marB="384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20-08-2025</a:t>
                      </a:r>
                    </a:p>
                  </a:txBody>
                  <a:tcPr marL="76990" marR="76990" marT="38495" marB="384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📊 </a:t>
                      </a:r>
                      <a:r>
                        <a:rPr lang="en-US" sz="1200" b="1"/>
                        <a:t>Project Proposal &amp; PPT Presentation</a:t>
                      </a:r>
                      <a:r>
                        <a:rPr lang="en-US" sz="1200"/>
                        <a:t> (Problem statement, objectives, methodology, tech stack)</a:t>
                      </a:r>
                    </a:p>
                  </a:txBody>
                  <a:tcPr marL="76990" marR="76990" marT="38495" marB="384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6568304"/>
                  </a:ext>
                </a:extLst>
              </a:tr>
              <a:tr h="7955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Review-2 (CA-02)</a:t>
                      </a:r>
                      <a:endParaRPr lang="en-US" sz="1200" dirty="0"/>
                    </a:p>
                  </a:txBody>
                  <a:tcPr marL="76990" marR="76990" marT="38495" marB="384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03-09-2025</a:t>
                      </a:r>
                    </a:p>
                  </a:txBody>
                  <a:tcPr marL="76990" marR="76990" marT="38495" marB="384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10-09-2025</a:t>
                      </a:r>
                    </a:p>
                  </a:txBody>
                  <a:tcPr marL="76990" marR="76990" marT="38495" marB="384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🏗️ </a:t>
                      </a:r>
                      <a:r>
                        <a:rPr lang="en-US" sz="1200" b="1" dirty="0"/>
                        <a:t>Basic Models &amp; Initial Designs</a:t>
                      </a:r>
                      <a:r>
                        <a:rPr lang="en-US" sz="1200" dirty="0"/>
                        <a:t> (Civil structures draft models in Blender, Python integration demo)</a:t>
                      </a:r>
                    </a:p>
                  </a:txBody>
                  <a:tcPr marL="76990" marR="76990" marT="38495" marB="384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890844"/>
                  </a:ext>
                </a:extLst>
              </a:tr>
              <a:tr h="9752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Review-3 (CA-03)</a:t>
                      </a:r>
                      <a:endParaRPr lang="en-US" sz="1200" dirty="0"/>
                    </a:p>
                  </a:txBody>
                  <a:tcPr marL="76990" marR="76990" marT="38495" marB="384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23-09-2025</a:t>
                      </a:r>
                    </a:p>
                  </a:txBody>
                  <a:tcPr marL="76990" marR="76990" marT="38495" marB="384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26-09-2025</a:t>
                      </a:r>
                    </a:p>
                  </a:txBody>
                  <a:tcPr marL="76990" marR="76990" marT="38495" marB="384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⚙️ </a:t>
                      </a:r>
                      <a:r>
                        <a:rPr lang="en-US" sz="1200" b="1"/>
                        <a:t>Prototype Demonstration</a:t>
                      </a:r>
                      <a:r>
                        <a:rPr lang="en-US" sz="1200"/>
                        <a:t> (Generative design workflow, AI-assisted model generation, voice/keyboard input integration)</a:t>
                      </a:r>
                    </a:p>
                  </a:txBody>
                  <a:tcPr marL="76990" marR="76990" marT="38495" marB="384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7961011"/>
                  </a:ext>
                </a:extLst>
              </a:tr>
              <a:tr h="11548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Review-4 (CA-04)</a:t>
                      </a:r>
                      <a:endParaRPr lang="en-US" sz="1200"/>
                    </a:p>
                  </a:txBody>
                  <a:tcPr marL="76990" marR="76990" marT="38495" marB="384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28-10-2025</a:t>
                      </a:r>
                    </a:p>
                  </a:txBody>
                  <a:tcPr marL="76990" marR="76990" marT="38495" marB="384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31-10-2025</a:t>
                      </a:r>
                    </a:p>
                  </a:txBody>
                  <a:tcPr marL="76990" marR="76990" marT="38495" marB="384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🚀 </a:t>
                      </a:r>
                      <a:r>
                        <a:rPr lang="en-US" sz="1200" b="1"/>
                        <a:t>Advanced Models &amp; Optimization</a:t>
                      </a:r>
                      <a:r>
                        <a:rPr lang="en-US" sz="1200"/>
                        <a:t> (Hydro-mechanical &amp; electro-mechanical components, improved automation, optimization results)</a:t>
                      </a:r>
                    </a:p>
                  </a:txBody>
                  <a:tcPr marL="76990" marR="76990" marT="38495" marB="384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901009"/>
                  </a:ext>
                </a:extLst>
              </a:tr>
              <a:tr h="9752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Final Viva (CA-05)</a:t>
                      </a:r>
                      <a:endParaRPr lang="en-US" sz="1200"/>
                    </a:p>
                  </a:txBody>
                  <a:tcPr marL="76990" marR="76990" marT="38495" marB="384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17-11-2025</a:t>
                      </a:r>
                    </a:p>
                  </a:txBody>
                  <a:tcPr marL="76990" marR="76990" marT="38495" marB="384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21-11-2025</a:t>
                      </a:r>
                    </a:p>
                  </a:txBody>
                  <a:tcPr marL="76990" marR="76990" marT="38495" marB="384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🎯 </a:t>
                      </a:r>
                      <a:r>
                        <a:rPr lang="en-US" sz="1200" b="1" dirty="0"/>
                        <a:t>Complete System Demonstration &amp; Report Submission</a:t>
                      </a:r>
                      <a:r>
                        <a:rPr lang="en-US" sz="1200" dirty="0"/>
                        <a:t> (End-to-end working demo, final PPT, documentation)</a:t>
                      </a:r>
                    </a:p>
                  </a:txBody>
                  <a:tcPr marL="76990" marR="76990" marT="38495" marB="384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74196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98902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3A00FF-89F0-DC87-D900-930227B3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390</TotalTime>
  <Words>1228</Words>
  <Application>Microsoft Office PowerPoint</Application>
  <PresentationFormat>Widescreen</PresentationFormat>
  <Paragraphs>126</Paragraphs>
  <Slides>13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Bioinformatics</vt:lpstr>
      <vt:lpstr>Al-based Generative design of Hydropower plants.</vt:lpstr>
      <vt:lpstr>Content</vt:lpstr>
      <vt:lpstr>Introduction</vt:lpstr>
      <vt:lpstr>Literature Survey</vt:lpstr>
      <vt:lpstr>Problem Statement Number: PSCS_11 </vt:lpstr>
      <vt:lpstr>System Model</vt:lpstr>
      <vt:lpstr>Result</vt:lpstr>
      <vt:lpstr>Result</vt:lpstr>
      <vt:lpstr>Conclusion</vt:lpstr>
      <vt:lpstr>References</vt:lpstr>
      <vt:lpstr>Github Link</vt:lpstr>
      <vt:lpstr>Timeline of the Project (Gantt Chart)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Aashrith K</cp:lastModifiedBy>
  <cp:revision>47</cp:revision>
  <dcterms:modified xsi:type="dcterms:W3CDTF">2025-12-03T07:47:12Z</dcterms:modified>
</cp:coreProperties>
</file>